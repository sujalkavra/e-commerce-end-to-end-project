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75" y="2189857"/>
            <a:ext cx="2533650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656582"/>
            <a:ext cx="9001125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b="1" sz="4050" i="0" u="none">
                <a:solidFill>
                  <a:srgbClr val="0F172A"/>
                </a:solidFill>
                <a:latin typeface="Poppins"/>
              </a:rPr>
              <a:t>Sales Performance &amp; Growth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982342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64748B"/>
                </a:solidFill>
                <a:latin typeface="Lato"/>
              </a:rPr>
              <a:t>A comprehensive analysis of ₹4.29M revenue, identifying fulfillment bottlenecks, payment patterns, and strategic profit solutions.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6987"/>
            <a:ext cx="2619375" cy="1647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566987"/>
            <a:ext cx="2619375" cy="1647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566987"/>
            <a:ext cx="2619375" cy="1647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2566987"/>
            <a:ext cx="2619375" cy="1647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14450"/>
            <a:ext cx="11049000" cy="5067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1525" y="2862262"/>
            <a:ext cx="22193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b="1" sz="3900" i="0" u="none">
                <a:solidFill>
                  <a:srgbClr val="0D9488"/>
                </a:solidFill>
                <a:latin typeface="Poppins"/>
              </a:rPr>
              <a:t>₹4.29M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452812"/>
            <a:ext cx="2219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TOTAL NET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757612"/>
            <a:ext cx="2219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Across 4 main product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1400" y="2862262"/>
            <a:ext cx="22193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b="1" sz="3900" i="0" u="none">
                <a:solidFill>
                  <a:srgbClr val="0D9488"/>
                </a:solidFill>
                <a:latin typeface="Poppins"/>
              </a:rPr>
              <a:t>439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1400" y="3452812"/>
            <a:ext cx="2219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TOTAL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400" y="3757612"/>
            <a:ext cx="2219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Generated across 5 major states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2862262"/>
            <a:ext cx="22193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b="1" sz="3900" i="0" u="none">
                <a:solidFill>
                  <a:srgbClr val="0D9488"/>
                </a:solidFill>
                <a:latin typeface="Poppins"/>
              </a:rPr>
              <a:t>1,000+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3452812"/>
            <a:ext cx="2219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Lato"/>
              </a:rPr>
              <a:t>UNITS SOLD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757612"/>
            <a:ext cx="2219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Led by Electronics &amp; Fashion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1150" y="2862262"/>
            <a:ext cx="22193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b="1" sz="3900" i="0" u="none">
                <a:solidFill>
                  <a:srgbClr val="DC2626"/>
                </a:solidFill>
                <a:latin typeface="Poppins"/>
              </a:rPr>
              <a:t>26%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1150" y="3452812"/>
            <a:ext cx="2219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991B1B"/>
                </a:solidFill>
                <a:latin typeface="Lato"/>
              </a:rPr>
              <a:t>DELIVERY FULFILLMENT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1150" y="3757612"/>
            <a:ext cx="2219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991B1B"/>
                </a:solidFill>
                <a:latin typeface="Lato"/>
              </a:rPr>
              <a:t>50% Returns &amp; Cancellations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Executive Summary &amp; Key KPIs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595562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5432" y="2871787"/>
            <a:ext cx="9081135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Poppins"/>
              </a:rPr>
              <a:t>PART 1: The Core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57612"/>
            <a:ext cx="7143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64748B"/>
                </a:solidFill>
                <a:latin typeface="Lato"/>
              </a:rPr>
              <a:t>Analyzing order status metrics reveals major operational inefficiencies that hinder revenue realization.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14450"/>
            <a:ext cx="11049000" cy="506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5048250"/>
            <a:ext cx="10496550" cy="723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Critical Bottleneck: 50% Order Leakage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28950"/>
            <a:ext cx="5429250" cy="1028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5700712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Why Are Orders Failing?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" y="1057275"/>
            <a:ext cx="5429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1314450"/>
            <a:ext cx="570071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D9488"/>
                </a:solidFill>
                <a:latin typeface="Poppins SemiBold"/>
              </a:rPr>
              <a:t>Root Cause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1743075"/>
            <a:ext cx="5429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1. Delivery Delays: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Long transit timelines lead to high cancellation rates before dispatch.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2371725"/>
            <a:ext cx="5429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2. COD &amp; Payment Friction: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Cash on Delivery (COD) accounts for 23% of orders and exhibits 3x higher return rates compared to prepaid modes.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" y="3171825"/>
            <a:ext cx="536067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oppins"/>
              </a:rPr>
              <a:t>Impact on Profitability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" y="3457575"/>
            <a:ext cx="510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7F1D1D"/>
                </a:solidFill>
                <a:latin typeface="Lato"/>
              </a:rPr>
              <a:t>Every returned order costs up to 1.5x of shipping charges plus restocking fees, eroding product margins.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595562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10451" y="2871787"/>
            <a:ext cx="8771096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Poppins"/>
              </a:rPr>
              <a:t>PART 2: Sales &amp; Revenue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57612"/>
            <a:ext cx="7143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64748B"/>
                </a:solidFill>
                <a:latin typeface="Lato"/>
              </a:rPr>
              <a:t>Evaluating revenue across product categories, monthly trends, regional hubs, and payment preferences.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14450"/>
            <a:ext cx="11049000" cy="506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476750"/>
            <a:ext cx="10496550" cy="723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Revenue Distribution by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14450"/>
            <a:ext cx="11049000" cy="506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5062537"/>
            <a:ext cx="10496550" cy="723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Monthly Sales Trend &amp; Peak Demand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14450"/>
            <a:ext cx="11049000" cy="50673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1876425"/>
            <a:ext cx="11049000" cy="31718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876425"/>
          <a:ext cx="11048998" cy="3171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22289"/>
                <a:gridCol w="1633537"/>
                <a:gridCol w="2469505"/>
                <a:gridCol w="2816869"/>
                <a:gridCol w="2006798"/>
              </a:tblGrid>
              <a:tr h="528637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Top 5 Products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Top State Markets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Revenue Contribution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Demand 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Lato"/>
                        </a:rPr>
                        <a:t>Laptop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Electronics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Maharashtra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High (₹1.2M)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0B981"/>
                          </a:solidFill>
                          <a:latin typeface="Lato"/>
                        </a:rPr>
                        <a:t>★★★★★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Lato"/>
                        </a:rPr>
                        <a:t>Chair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Furniture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Karnataka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Medium (₹650K)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0B981"/>
                          </a:solidFill>
                          <a:latin typeface="Lato"/>
                        </a:rPr>
                        <a:t>★★★★☆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Lato"/>
                        </a:rPr>
                        <a:t>Watch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Fashion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Uttar Pradesh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Medium (₹520K)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0B981"/>
                          </a:solidFill>
                          <a:latin typeface="Lato"/>
                        </a:rPr>
                        <a:t>★★★★☆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Lato"/>
                        </a:rPr>
                        <a:t>Bottle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Home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Delhi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Moderate (₹310K)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59E0B"/>
                          </a:solidFill>
                          <a:latin typeface="Lato"/>
                        </a:rPr>
                        <a:t>★★★☆☆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286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Lato"/>
                        </a:rPr>
                        <a:t>Mouse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Electronics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Rajasthan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Lato"/>
                        </a:rPr>
                        <a:t>Moderate (₹220K)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59E0B"/>
                          </a:solidFill>
                          <a:latin typeface="Lato"/>
                        </a:rPr>
                        <a:t>★★★☆☆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2366962"/>
            <a:ext cx="21222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93789" y="2366962"/>
            <a:ext cx="1633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7326" y="2366962"/>
            <a:ext cx="2469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96831" y="2366962"/>
            <a:ext cx="2816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13701" y="2366962"/>
            <a:ext cx="2006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900362"/>
            <a:ext cx="21222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3789" y="2900362"/>
            <a:ext cx="1633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7326" y="2900362"/>
            <a:ext cx="2469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96831" y="2900362"/>
            <a:ext cx="2816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13701" y="2900362"/>
            <a:ext cx="2006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3433762"/>
            <a:ext cx="21222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3789" y="3433762"/>
            <a:ext cx="1633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7326" y="3433762"/>
            <a:ext cx="2469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96831" y="3433762"/>
            <a:ext cx="2816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13701" y="3433762"/>
            <a:ext cx="2006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3967162"/>
            <a:ext cx="21222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93789" y="3967162"/>
            <a:ext cx="1633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7326" y="3967162"/>
            <a:ext cx="2469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6831" y="3967162"/>
            <a:ext cx="2816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13701" y="3967162"/>
            <a:ext cx="2006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1500" y="4500562"/>
            <a:ext cx="21222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93789" y="4500562"/>
            <a:ext cx="1633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7326" y="4500562"/>
            <a:ext cx="2469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96831" y="4500562"/>
            <a:ext cx="2816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13701" y="4500562"/>
            <a:ext cx="2006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1500" y="5033962"/>
            <a:ext cx="21222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93789" y="5033962"/>
            <a:ext cx="1633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27326" y="5033962"/>
            <a:ext cx="24695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96831" y="5033962"/>
            <a:ext cx="2816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13701" y="5033962"/>
            <a:ext cx="2006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Top Products &amp; High-Performing States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2583656" cy="3019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1" y="2338387"/>
            <a:ext cx="2583656" cy="3019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338387"/>
            <a:ext cx="2583656" cy="3019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843" y="2338387"/>
            <a:ext cx="2583656" cy="3019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575" y="3176587"/>
            <a:ext cx="2252781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D9488"/>
                </a:solidFill>
                <a:latin typeface="Poppins SemiBold"/>
              </a:rPr>
              <a:t>Digital Wallets (23%)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3938587"/>
            <a:ext cx="2145506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High adoption due to instant rewards. Low return rate (&lt;10%). Highly preferred by frequent online shoppers.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2356" y="3176587"/>
            <a:ext cx="225278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D9488"/>
                </a:solidFill>
                <a:latin typeface="Poppins SemiBold"/>
              </a:rPr>
              <a:t>COD (23%)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2356" y="3605212"/>
            <a:ext cx="2145506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Popular in tier-2 cities but triggers high impulse returns (38% return rate). Requires verification before dispatch.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4137" y="3176587"/>
            <a:ext cx="225278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D9488"/>
                </a:solidFill>
                <a:latin typeface="Poppins SemiBold"/>
              </a:rPr>
              <a:t>NetBanking (21%)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37" y="3605212"/>
            <a:ext cx="2145506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Steady usage for high-ticket items like Laptops. High conversion stability with under 5% cancellation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5918" y="3176587"/>
            <a:ext cx="225278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D9488"/>
                </a:solidFill>
                <a:latin typeface="Poppins SemiBold"/>
              </a:rPr>
              <a:t>UPI &amp; Cards (33%)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5918" y="3605212"/>
            <a:ext cx="2145506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UPI (18%) and Cards (15%) drive fast checkouts. Prepaid incentives can shift COD buyers to digital payment.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2662237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2356" y="2662237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4137" y="2662237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5918" y="2662237"/>
            <a:ext cx="3048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Payment Preferences &amp; Friction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595562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2871787"/>
            <a:ext cx="96012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Poppins"/>
              </a:rPr>
              <a:t>PART 3: 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57612"/>
            <a:ext cx="7143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64748B"/>
                </a:solidFill>
                <a:latin typeface="Lato"/>
              </a:rPr>
              <a:t>Actionable, high-impact strategies to reduce returns, boost order fulfillment, and increase total profit.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181225"/>
            <a:ext cx="10620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Reduce Returns via OTP Verification for COD: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Implement mandatory OTP confirmation for Cash on Delivery orders to eliminate fake/impulse orders and cut return rates from 25% down to under 10%.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2847975"/>
            <a:ext cx="10620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Offer Incentives on Prepaid Payments: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Give a 3%–5% instant discount for UPI and Wallet payments to shift customers away from COD, securing revenue upfront and reducing cancellation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514725"/>
            <a:ext cx="10620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Optimize Regional Stocking in Top States: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Stock high-demand items like Laptops and Chairs in local fulfillment centers across Maharashtra and Karnataka for faster 24-48 hour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181475"/>
            <a:ext cx="10620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Bundle High-Margin with Low-Demand Products: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Bundle fast-selling items (Laptops/Watches) with slow-moving stock (Bottles/Mice) to increase Average Order Value (AOV) and clear inventory efficiently.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4848225"/>
            <a:ext cx="10620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Capitalize on Q4 Seasonal Peak Demand: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Scale up targeted ad spending and inventory 30 days prior to Q4 (Oct-Dec) to maximize revenue during peak consumer shopping windows.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95512"/>
            <a:ext cx="26670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62262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29012"/>
            <a:ext cx="26670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95762"/>
            <a:ext cx="26670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62512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5 Steps to Increase Profit &amp; Sales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787" y="360997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48162" y="3617118"/>
            <a:ext cx="45910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Lato"/>
              </a:rPr>
              <a:t>https://shaoke.com/wp-content/uploads/2024/03/Random-Photos-Landscape-1.jpg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8162" y="3850481"/>
            <a:ext cx="45910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shaoke.com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0572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